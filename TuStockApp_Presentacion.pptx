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6" r:id="rId17"/>
    <p:sldId id="267" r:id="rId18"/>
    <p:sldId id="269" r:id="rId20"/>
    <p:sldId id="270" r:id="rId21"/>
    <p:sldId id="271" r:id="rId22"/>
    <p:sldId id="260" r:id="rId6"/>
    <p:sldId id="261" r:id="rId7"/>
    <p:sldId id="262" r:id="rId8"/>
    <p:sldId id="263" r:id="rId9"/>
    <p:sldId id="264" r:id="rId10"/>
    <p:sldId id="268" r:id="rId19"/>
    <p:sldId id="265" r:id="rId11"/>
  </p:sldIdLst>
  <p:notesMasterIdLst>
    <p:notesMasterId r:id="rId1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image" Target="../media/image-8-8.png"/><Relationship Id="rId9" Type="http://schemas.openxmlformats.org/officeDocument/2006/relationships/image" Target="../media/image-8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image" Target="../media/image-8-5.png"/><Relationship Id="rId2" Type="http://schemas.openxmlformats.org/officeDocument/2006/relationships/slideLayout" Target="../slideLayouts/slideLayout1.xml"/></Relationships>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image" Target="../media/image-8-5.png"/><Relationship Id="rId2" Type="http://schemas.openxmlformats.org/officeDocument/2006/relationships/slideLayout" Target="../slideLayouts/slideLayout1.xml"/></Relationships>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image" Target="../media/image-10-3.png"/><Relationship Id="rId2" Type="http://schemas.openxmlformats.org/officeDocument/2006/relationships/slideLayout" Target="../slideLayouts/slideLayout1.xml"/></Relationships>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image" Target="../media/image-10-2.png"/><Relationship Id="rId2" Type="http://schemas.openxmlformats.org/officeDocument/2006/relationships/slideLayout" Target="../slideLayouts/slideLayout1.xml"/></Relationships>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image" Target="../media/image-8-4.png"/><Relationship Id="rId2" Type="http://schemas.openxmlformats.org/officeDocument/2006/relationships/slideLayout" Target="../slideLayouts/slideLayout1.xml"/></Relationships>
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image" Target="../media/image-8-5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13A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2011680"/>
            <a:ext cx="5943600" cy="5943600"/>
          </a:xfrm>
          <a:prstGeom prst="ellipse">
            <a:avLst/>
          </a:prstGeom>
          <a:solidFill>
            <a:srgbClr val="00A896">
              <a:alpha val="2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881360" y="5486400"/>
            <a:ext cx="1463040" cy="146304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2331720"/>
            <a:ext cx="9144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TuStockApp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777240" y="352044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E8F5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forma más simple de que tus clientes hagan pedidos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777240" y="406908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esperas. Sin llamadas. Sin recorrer la ciudad entera para tomar un pedido.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costo oculto de vender puerta a puerta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600200"/>
            <a:ext cx="685800" cy="68580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7794" y="1689354"/>
            <a:ext cx="507492" cy="50749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63040" y="1618488"/>
            <a:ext cx="6035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vendedor recorre unos 20 almacenes por día, de una cartera de 100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548640" y="2770632"/>
            <a:ext cx="685800" cy="68580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7794" y="2859786"/>
            <a:ext cx="507492" cy="50749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463040" y="2788920"/>
            <a:ext cx="6035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Combustible para toda la flota, todos los días del mes</a:t>
            </a:r>
            <a:endParaRPr lang="en-US" sz="1500" dirty="0"/>
          </a:p>
        </p:txBody>
      </p:sp>
      <p:sp>
        <p:nvSpPr>
          <p:cNvPr id="9" name="Shape 5"/>
          <p:cNvSpPr/>
          <p:nvPr/>
        </p:nvSpPr>
        <p:spPr>
          <a:xfrm>
            <a:off x="548640" y="3941064"/>
            <a:ext cx="685800" cy="68580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794" y="4030218"/>
            <a:ext cx="507492" cy="507492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463040" y="3959352"/>
            <a:ext cx="6035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cliente espera a que llegue el vendedor para recién ahí poder pedir</a:t>
            </a:r>
            <a:endParaRPr lang="en-US" sz="1500" dirty="0"/>
          </a:p>
        </p:txBody>
      </p:sp>
      <p:sp>
        <p:nvSpPr>
          <p:cNvPr id="12" name="Shape 7"/>
          <p:cNvSpPr/>
          <p:nvPr/>
        </p:nvSpPr>
        <p:spPr>
          <a:xfrm>
            <a:off x="548640" y="5111496"/>
            <a:ext cx="685800" cy="68580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7794" y="5200650"/>
            <a:ext cx="507492" cy="507492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463040" y="5129784"/>
            <a:ext cx="6035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Mientras tanto, el almacén deja de atender a sus propios clientes</a:t>
            </a:r>
            <a:endParaRPr lang="en-US" sz="1500" dirty="0"/>
          </a:p>
        </p:txBody>
      </p:sp>
      <p:sp>
        <p:nvSpPr>
          <p:cNvPr id="15" name="Shape 9"/>
          <p:cNvSpPr/>
          <p:nvPr/>
        </p:nvSpPr>
        <p:spPr>
          <a:xfrm>
            <a:off x="7772400" y="1600200"/>
            <a:ext cx="3886200" cy="4480560"/>
          </a:xfrm>
          <a:prstGeom prst="roundRect">
            <a:avLst>
              <a:gd name="adj" fmla="val 2824"/>
            </a:avLst>
          </a:prstGeom>
          <a:solidFill>
            <a:srgbClr val="E8F5F3"/>
          </a:solidFill>
          <a:ln/>
        </p:spPr>
      </p:sp>
      <p:sp>
        <p:nvSpPr>
          <p:cNvPr id="16" name="Shape 10"/>
          <p:cNvSpPr/>
          <p:nvPr/>
        </p:nvSpPr>
        <p:spPr>
          <a:xfrm>
            <a:off x="9349740" y="1920240"/>
            <a:ext cx="731520" cy="7315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44838" y="2015338"/>
            <a:ext cx="541325" cy="541325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7772400" y="2834640"/>
            <a:ext cx="3886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6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</a:t>
            </a:r>
            <a:endParaRPr lang="en-US" sz="6600" dirty="0"/>
          </a:p>
        </p:txBody>
      </p:sp>
      <p:sp>
        <p:nvSpPr>
          <p:cNvPr id="19" name="Text 12"/>
          <p:cNvSpPr/>
          <p:nvPr/>
        </p:nvSpPr>
        <p:spPr>
          <a:xfrm>
            <a:off x="7955280" y="4069080"/>
            <a:ext cx="3520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almacenes por día, por cada vendedor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8F5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Damos vuelta la ecuación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828800"/>
            <a:ext cx="65836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cliente entra a TuStockApp cuando quiere, ve el catálogo actualizado de su distribuidora, y hace su pedido en minutos.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365760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4C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esperar a nadie. Las 24 horas, los 365 días del año.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8778240" y="1920240"/>
            <a:ext cx="2377440" cy="2377440"/>
          </a:xfrm>
          <a:prstGeom prst="ellipse">
            <a:avLst/>
          </a:prstGeom>
          <a:solidFill>
            <a:srgbClr val="013A40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34856" y="2276856"/>
            <a:ext cx="1664208" cy="16642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412480" y="443484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24/7</a:t>
            </a:r>
            <a:endParaRPr lang="en-US" sz="3000" dirty="0"/>
          </a:p>
        </p:txBody>
      </p:sp>
      <p:sp>
        <p:nvSpPr>
          <p:cNvPr id="8" name="Text 5"/>
          <p:cNvSpPr/>
          <p:nvPr/>
        </p:nvSpPr>
        <p:spPr>
          <a:xfrm>
            <a:off x="8412480" y="50292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C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Disponible siempre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 que gana la distribuidora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600200"/>
            <a:ext cx="5257800" cy="1965960"/>
          </a:xfrm>
          <a:prstGeom prst="roundRect">
            <a:avLst>
              <a:gd name="adj" fmla="val 4651"/>
            </a:avLst>
          </a:prstGeom>
          <a:solidFill>
            <a:srgbClr val="E8F5F3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1874520"/>
            <a:ext cx="594360" cy="59436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0227" y="1951787"/>
            <a:ext cx="439826" cy="43982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00200" y="1856232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Ahorro real en combustible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822960" y="2468880"/>
            <a:ext cx="4709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C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Menos recorridos innecesarios: el cliente carga su propio pedido cuando quiere.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6126480" y="1600200"/>
            <a:ext cx="5257800" cy="1965960"/>
          </a:xfrm>
          <a:prstGeom prst="roundRect">
            <a:avLst>
              <a:gd name="adj" fmla="val 4651"/>
            </a:avLst>
          </a:prstGeom>
          <a:solidFill>
            <a:srgbClr val="E8F5F3"/>
          </a:solidFill>
          <a:ln/>
        </p:spPr>
      </p:sp>
      <p:sp>
        <p:nvSpPr>
          <p:cNvPr id="9" name="Shape 6"/>
          <p:cNvSpPr/>
          <p:nvPr/>
        </p:nvSpPr>
        <p:spPr>
          <a:xfrm>
            <a:off x="6400800" y="1874520"/>
            <a:ext cx="594360" cy="59436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8067" y="1951787"/>
            <a:ext cx="439826" cy="43982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178040" y="1856232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Menos dependencia de vendedores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6400800" y="2468880"/>
            <a:ext cx="4709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C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catálogo y el pedido los resuelve la app, no hace falta visitar cada almacén.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548640" y="3840480"/>
            <a:ext cx="5257800" cy="1965960"/>
          </a:xfrm>
          <a:prstGeom prst="roundRect">
            <a:avLst>
              <a:gd name="adj" fmla="val 4651"/>
            </a:avLst>
          </a:prstGeom>
          <a:solidFill>
            <a:srgbClr val="E8F5F3"/>
          </a:solidFill>
          <a:ln/>
        </p:spPr>
      </p:sp>
      <p:sp>
        <p:nvSpPr>
          <p:cNvPr id="14" name="Shape 10"/>
          <p:cNvSpPr/>
          <p:nvPr/>
        </p:nvSpPr>
        <p:spPr>
          <a:xfrm>
            <a:off x="822960" y="4114800"/>
            <a:ext cx="594360" cy="59436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0227" y="4192067"/>
            <a:ext cx="439826" cy="439826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600200" y="4096512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en tiempo real</a:t>
            </a:r>
            <a:endParaRPr lang="en-US" sz="1600" dirty="0"/>
          </a:p>
        </p:txBody>
      </p:sp>
      <p:sp>
        <p:nvSpPr>
          <p:cNvPr id="17" name="Text 12"/>
          <p:cNvSpPr/>
          <p:nvPr/>
        </p:nvSpPr>
        <p:spPr>
          <a:xfrm>
            <a:off x="822960" y="4709160"/>
            <a:ext cx="4709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C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actualiza automáticamente con cada pedido, sin errores de conteo manual.</a:t>
            </a:r>
            <a:endParaRPr lang="en-US" sz="1250" dirty="0"/>
          </a:p>
        </p:txBody>
      </p:sp>
      <p:sp>
        <p:nvSpPr>
          <p:cNvPr id="18" name="Shape 13"/>
          <p:cNvSpPr/>
          <p:nvPr/>
        </p:nvSpPr>
        <p:spPr>
          <a:xfrm>
            <a:off x="6126480" y="3840480"/>
            <a:ext cx="5257800" cy="1965960"/>
          </a:xfrm>
          <a:prstGeom prst="roundRect">
            <a:avLst>
              <a:gd name="adj" fmla="val 4651"/>
            </a:avLst>
          </a:prstGeom>
          <a:solidFill>
            <a:srgbClr val="E8F5F3"/>
          </a:solidFill>
          <a:ln/>
        </p:spPr>
      </p:sp>
      <p:sp>
        <p:nvSpPr>
          <p:cNvPr id="19" name="Shape 14"/>
          <p:cNvSpPr/>
          <p:nvPr/>
        </p:nvSpPr>
        <p:spPr>
          <a:xfrm>
            <a:off x="6400800" y="4114800"/>
            <a:ext cx="594360" cy="59436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78067" y="4192067"/>
            <a:ext cx="439826" cy="439826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7178040" y="4096512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vez menos vendedores</a:t>
            </a:r>
            <a:endParaRPr lang="en-US" sz="1600" dirty="0"/>
          </a:p>
        </p:txBody>
      </p:sp>
      <p:sp>
        <p:nvSpPr>
          <p:cNvPr id="22" name="Text 16"/>
          <p:cNvSpPr/>
          <p:nvPr/>
        </p:nvSpPr>
        <p:spPr>
          <a:xfrm>
            <a:off x="6400800" y="4709160"/>
            <a:ext cx="4709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C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Cuantos más clientes se acostumbran a pedir solos, menos gente necesitás en la calle.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8F5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 que gana cada almacén cliente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600200"/>
            <a:ext cx="525780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1874520"/>
            <a:ext cx="594360" cy="59436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0227" y="1951787"/>
            <a:ext cx="439826" cy="43982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00200" y="1856232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Pide cuando quiere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822960" y="2468880"/>
            <a:ext cx="4709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C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cualquier hora, sin esperar a que pase el vendedor.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6126480" y="1600200"/>
            <a:ext cx="525780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</p:spPr>
      </p:sp>
      <p:sp>
        <p:nvSpPr>
          <p:cNvPr id="9" name="Shape 6"/>
          <p:cNvSpPr/>
          <p:nvPr/>
        </p:nvSpPr>
        <p:spPr>
          <a:xfrm>
            <a:off x="6400800" y="1874520"/>
            <a:ext cx="594360" cy="59436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8067" y="1951787"/>
            <a:ext cx="439826" cy="43982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178040" y="1856232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 fotos y precios reales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6400800" y="2468880"/>
            <a:ext cx="4709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C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producto con su foto, precio actualizado y si está disponible.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548640" y="3840480"/>
            <a:ext cx="525780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</p:spPr>
      </p:sp>
      <p:sp>
        <p:nvSpPr>
          <p:cNvPr id="14" name="Shape 10"/>
          <p:cNvSpPr/>
          <p:nvPr/>
        </p:nvSpPr>
        <p:spPr>
          <a:xfrm>
            <a:off x="822960" y="4114800"/>
            <a:ext cx="594360" cy="59436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0227" y="4192067"/>
            <a:ext cx="439826" cy="439826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600200" y="4096512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 descuentos, automáticos</a:t>
            </a:r>
            <a:endParaRPr lang="en-US" sz="1600" dirty="0"/>
          </a:p>
        </p:txBody>
      </p:sp>
      <p:sp>
        <p:nvSpPr>
          <p:cNvPr id="17" name="Text 12"/>
          <p:cNvSpPr/>
          <p:nvPr/>
        </p:nvSpPr>
        <p:spPr>
          <a:xfrm>
            <a:off x="822960" y="4709160"/>
            <a:ext cx="4709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C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tiene un descuento especial, se aplica solo, sin tener que pedirlo.</a:t>
            </a:r>
            <a:endParaRPr lang="en-US" sz="1250" dirty="0"/>
          </a:p>
        </p:txBody>
      </p:sp>
      <p:sp>
        <p:nvSpPr>
          <p:cNvPr id="18" name="Shape 13"/>
          <p:cNvSpPr/>
          <p:nvPr/>
        </p:nvSpPr>
        <p:spPr>
          <a:xfrm>
            <a:off x="6126480" y="3840480"/>
            <a:ext cx="525780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</p:spPr>
      </p:sp>
      <p:sp>
        <p:nvSpPr>
          <p:cNvPr id="19" name="Shape 14"/>
          <p:cNvSpPr/>
          <p:nvPr/>
        </p:nvSpPr>
        <p:spPr>
          <a:xfrm>
            <a:off x="6400800" y="4114800"/>
            <a:ext cx="594360" cy="59436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78067" y="4192067"/>
            <a:ext cx="439826" cy="439826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7178040" y="4096512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instala como una app</a:t>
            </a:r>
            <a:endParaRPr lang="en-US" sz="1600" dirty="0"/>
          </a:p>
        </p:txBody>
      </p:sp>
      <p:sp>
        <p:nvSpPr>
          <p:cNvPr id="22" name="Text 16"/>
          <p:cNvSpPr/>
          <p:nvPr/>
        </p:nvSpPr>
        <p:spPr>
          <a:xfrm>
            <a:off x="6400800" y="4709160"/>
            <a:ext cx="4709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C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Directo en la pantalla del celular, sin pasar por ninguna tienda de aplicaciones.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Así de simple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1348740" y="1828800"/>
            <a:ext cx="1005840" cy="100584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79499" y="1959559"/>
            <a:ext cx="744322" cy="74432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2171700" y="1691640"/>
            <a:ext cx="502920" cy="50292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6" name="Text 3"/>
          <p:cNvSpPr/>
          <p:nvPr/>
        </p:nvSpPr>
        <p:spPr>
          <a:xfrm>
            <a:off x="2171700" y="1691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548640" y="3108960"/>
            <a:ext cx="26060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distribuidora da de alta al cliente y le entrega un código único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3108960" y="205740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4C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4183380" y="1828800"/>
            <a:ext cx="1005840" cy="100584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14139" y="1959559"/>
            <a:ext cx="744322" cy="744322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5006340" y="1691640"/>
            <a:ext cx="502920" cy="50292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2" name="Text 8"/>
          <p:cNvSpPr/>
          <p:nvPr/>
        </p:nvSpPr>
        <p:spPr>
          <a:xfrm>
            <a:off x="5006340" y="1691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3383280" y="3108960"/>
            <a:ext cx="26060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cliente entra a TuStockApp con ese código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5943600" y="205740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4C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5" name="Shape 11"/>
          <p:cNvSpPr/>
          <p:nvPr/>
        </p:nvSpPr>
        <p:spPr>
          <a:xfrm>
            <a:off x="7018020" y="1828800"/>
            <a:ext cx="1005840" cy="100584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48779" y="1959559"/>
            <a:ext cx="744322" cy="744322"/>
          </a:xfrm>
          <a:prstGeom prst="rect">
            <a:avLst/>
          </a:prstGeom>
        </p:spPr>
      </p:pic>
      <p:sp>
        <p:nvSpPr>
          <p:cNvPr id="17" name="Shape 12"/>
          <p:cNvSpPr/>
          <p:nvPr/>
        </p:nvSpPr>
        <p:spPr>
          <a:xfrm>
            <a:off x="7840980" y="1691640"/>
            <a:ext cx="502920" cy="50292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8" name="Text 13"/>
          <p:cNvSpPr/>
          <p:nvPr/>
        </p:nvSpPr>
        <p:spPr>
          <a:xfrm>
            <a:off x="7840980" y="1691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4"/>
          <p:cNvSpPr/>
          <p:nvPr/>
        </p:nvSpPr>
        <p:spPr>
          <a:xfrm>
            <a:off x="6217920" y="3108960"/>
            <a:ext cx="26060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Mira el catálogo y arma su pedido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8778240" y="205740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4C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21" name="Shape 16"/>
          <p:cNvSpPr/>
          <p:nvPr/>
        </p:nvSpPr>
        <p:spPr>
          <a:xfrm>
            <a:off x="9852660" y="1828800"/>
            <a:ext cx="1005840" cy="100584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83419" y="1959559"/>
            <a:ext cx="744322" cy="744322"/>
          </a:xfrm>
          <a:prstGeom prst="rect">
            <a:avLst/>
          </a:prstGeom>
        </p:spPr>
      </p:pic>
      <p:sp>
        <p:nvSpPr>
          <p:cNvPr id="23" name="Shape 17"/>
          <p:cNvSpPr/>
          <p:nvPr/>
        </p:nvSpPr>
        <p:spPr>
          <a:xfrm>
            <a:off x="10675620" y="1691640"/>
            <a:ext cx="502920" cy="50292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4" name="Text 18"/>
          <p:cNvSpPr/>
          <p:nvPr/>
        </p:nvSpPr>
        <p:spPr>
          <a:xfrm>
            <a:off x="10675620" y="1691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5" name="Text 19"/>
          <p:cNvSpPr/>
          <p:nvPr/>
        </p:nvSpPr>
        <p:spPr>
          <a:xfrm>
            <a:off x="9052560" y="3108960"/>
            <a:ext cx="26060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distribuidora recibe el pedido y lo gestiona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13A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Cada distribuidora, su propio mundo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691640"/>
            <a:ext cx="685800" cy="68580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7794" y="1780794"/>
            <a:ext cx="507492" cy="50749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508760" y="1709928"/>
            <a:ext cx="9875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cliente ve solo el catálogo de SU distribuidora, nunca el de otra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548640" y="2880360"/>
            <a:ext cx="685800" cy="68580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7794" y="2969514"/>
            <a:ext cx="507492" cy="50749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508760" y="2898648"/>
            <a:ext cx="9875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Acceso con código único, entregado por la propia distribuidora</a:t>
            </a:r>
            <a:endParaRPr lang="en-US" sz="1600" dirty="0"/>
          </a:p>
        </p:txBody>
      </p:sp>
      <p:sp>
        <p:nvSpPr>
          <p:cNvPr id="9" name="Shape 5"/>
          <p:cNvSpPr/>
          <p:nvPr/>
        </p:nvSpPr>
        <p:spPr>
          <a:xfrm>
            <a:off x="548640" y="4069080"/>
            <a:ext cx="685800" cy="68580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794" y="4158234"/>
            <a:ext cx="507492" cy="507492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508760" y="4087368"/>
            <a:ext cx="9875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Verificación por RUT o Cédula del comercio</a:t>
            </a:r>
            <a:endParaRPr lang="en-US" sz="1600" dirty="0"/>
          </a:p>
        </p:txBody>
      </p:sp>
      <p:sp>
        <p:nvSpPr>
          <p:cNvPr id="12" name="Shape 7"/>
          <p:cNvSpPr/>
          <p:nvPr/>
        </p:nvSpPr>
        <p:spPr>
          <a:xfrm>
            <a:off x="548640" y="5257800"/>
            <a:ext cx="685800" cy="68580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7794" y="5346954"/>
            <a:ext cx="507492" cy="507492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08760" y="5276088"/>
            <a:ext cx="9875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Soporte para resolver cualquier problema, sin exponer contraseñas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Todo lo que ya incluye TuStockApp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691640"/>
            <a:ext cx="3502152" cy="1417320"/>
          </a:xfrm>
          <a:prstGeom prst="roundRect">
            <a:avLst>
              <a:gd name="adj" fmla="val 6452"/>
            </a:avLst>
          </a:prstGeom>
          <a:solidFill>
            <a:srgbClr val="E8F5F3"/>
          </a:solidFill>
          <a:ln/>
        </p:spPr>
      </p:sp>
      <p:sp>
        <p:nvSpPr>
          <p:cNvPr id="4" name="Shape 2"/>
          <p:cNvSpPr/>
          <p:nvPr/>
        </p:nvSpPr>
        <p:spPr>
          <a:xfrm>
            <a:off x="804672" y="2116836"/>
            <a:ext cx="566928" cy="566928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8373" y="2190537"/>
            <a:ext cx="419527" cy="41952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08760" y="1691640"/>
            <a:ext cx="2359152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Fotos de producto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4325112" y="1691640"/>
            <a:ext cx="3502152" cy="1417320"/>
          </a:xfrm>
          <a:prstGeom prst="roundRect">
            <a:avLst>
              <a:gd name="adj" fmla="val 6452"/>
            </a:avLst>
          </a:prstGeom>
          <a:solidFill>
            <a:srgbClr val="E8F5F3"/>
          </a:solidFill>
          <a:ln/>
        </p:spPr>
      </p:sp>
      <p:sp>
        <p:nvSpPr>
          <p:cNvPr id="8" name="Shape 5"/>
          <p:cNvSpPr/>
          <p:nvPr/>
        </p:nvSpPr>
        <p:spPr>
          <a:xfrm>
            <a:off x="4581144" y="2116836"/>
            <a:ext cx="566928" cy="566928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4845" y="2190537"/>
            <a:ext cx="419527" cy="419527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285232" y="1691640"/>
            <a:ext cx="2359152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IVA desglosado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8101584" y="1691640"/>
            <a:ext cx="3502152" cy="1417320"/>
          </a:xfrm>
          <a:prstGeom prst="roundRect">
            <a:avLst>
              <a:gd name="adj" fmla="val 6452"/>
            </a:avLst>
          </a:prstGeom>
          <a:solidFill>
            <a:srgbClr val="E8F5F3"/>
          </a:solidFill>
          <a:ln/>
        </p:spPr>
      </p:sp>
      <p:sp>
        <p:nvSpPr>
          <p:cNvPr id="12" name="Shape 8"/>
          <p:cNvSpPr/>
          <p:nvPr/>
        </p:nvSpPr>
        <p:spPr>
          <a:xfrm>
            <a:off x="8357616" y="2116836"/>
            <a:ext cx="566928" cy="566928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31317" y="2190537"/>
            <a:ext cx="419527" cy="419527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9061704" y="1691640"/>
            <a:ext cx="2359152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Descuentos por cliente</a:t>
            </a:r>
            <a:endParaRPr lang="en-US" sz="1400" dirty="0"/>
          </a:p>
        </p:txBody>
      </p:sp>
      <p:sp>
        <p:nvSpPr>
          <p:cNvPr id="15" name="Shape 10"/>
          <p:cNvSpPr/>
          <p:nvPr/>
        </p:nvSpPr>
        <p:spPr>
          <a:xfrm>
            <a:off x="548640" y="3337560"/>
            <a:ext cx="3502152" cy="1417320"/>
          </a:xfrm>
          <a:prstGeom prst="roundRect">
            <a:avLst>
              <a:gd name="adj" fmla="val 6452"/>
            </a:avLst>
          </a:prstGeom>
          <a:solidFill>
            <a:srgbClr val="E8F5F3"/>
          </a:solidFill>
          <a:ln/>
        </p:spPr>
      </p:sp>
      <p:sp>
        <p:nvSpPr>
          <p:cNvPr id="16" name="Shape 11"/>
          <p:cNvSpPr/>
          <p:nvPr/>
        </p:nvSpPr>
        <p:spPr>
          <a:xfrm>
            <a:off x="804672" y="3762756"/>
            <a:ext cx="566928" cy="566928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8373" y="3836457"/>
            <a:ext cx="419527" cy="419527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508760" y="3337560"/>
            <a:ext cx="2359152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Alertas de stock bajo</a:t>
            </a:r>
            <a:endParaRPr lang="en-US" sz="1400" dirty="0"/>
          </a:p>
        </p:txBody>
      </p:sp>
      <p:sp>
        <p:nvSpPr>
          <p:cNvPr id="19" name="Shape 13"/>
          <p:cNvSpPr/>
          <p:nvPr/>
        </p:nvSpPr>
        <p:spPr>
          <a:xfrm>
            <a:off x="4325112" y="3337560"/>
            <a:ext cx="3502152" cy="1417320"/>
          </a:xfrm>
          <a:prstGeom prst="roundRect">
            <a:avLst>
              <a:gd name="adj" fmla="val 6452"/>
            </a:avLst>
          </a:prstGeom>
          <a:solidFill>
            <a:srgbClr val="E8F5F3"/>
          </a:solidFill>
          <a:ln/>
        </p:spPr>
      </p:sp>
      <p:sp>
        <p:nvSpPr>
          <p:cNvPr id="20" name="Shape 14"/>
          <p:cNvSpPr/>
          <p:nvPr/>
        </p:nvSpPr>
        <p:spPr>
          <a:xfrm>
            <a:off x="4581144" y="3762756"/>
            <a:ext cx="566928" cy="566928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54845" y="3836457"/>
            <a:ext cx="419527" cy="419527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5285232" y="3337560"/>
            <a:ext cx="2359152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Recordatorio diario 9am</a:t>
            </a:r>
            <a:endParaRPr lang="en-US" sz="1400" dirty="0"/>
          </a:p>
        </p:txBody>
      </p:sp>
      <p:sp>
        <p:nvSpPr>
          <p:cNvPr id="23" name="Shape 16"/>
          <p:cNvSpPr/>
          <p:nvPr/>
        </p:nvSpPr>
        <p:spPr>
          <a:xfrm>
            <a:off x="8101584" y="3337560"/>
            <a:ext cx="3502152" cy="1417320"/>
          </a:xfrm>
          <a:prstGeom prst="roundRect">
            <a:avLst>
              <a:gd name="adj" fmla="val 6452"/>
            </a:avLst>
          </a:prstGeom>
          <a:solidFill>
            <a:srgbClr val="E8F5F3"/>
          </a:solidFill>
          <a:ln/>
        </p:spPr>
      </p:sp>
      <p:sp>
        <p:nvSpPr>
          <p:cNvPr id="24" name="Shape 17"/>
          <p:cNvSpPr/>
          <p:nvPr/>
        </p:nvSpPr>
        <p:spPr>
          <a:xfrm>
            <a:off x="8357616" y="3762756"/>
            <a:ext cx="566928" cy="566928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31317" y="3836457"/>
            <a:ext cx="419527" cy="419527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9061704" y="3337560"/>
            <a:ext cx="2359152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Comprobante en PDF</a:t>
            </a:r>
            <a:endParaRPr lang="en-US" sz="1400" dirty="0"/>
          </a:p>
        </p:txBody>
      </p:sp>
      <p:sp>
        <p:nvSpPr>
          <p:cNvPr id="27" name="Shape 19"/>
          <p:cNvSpPr/>
          <p:nvPr/>
        </p:nvSpPr>
        <p:spPr>
          <a:xfrm>
            <a:off x="548640" y="4983480"/>
            <a:ext cx="3502152" cy="1417320"/>
          </a:xfrm>
          <a:prstGeom prst="roundRect">
            <a:avLst>
              <a:gd name="adj" fmla="val 6452"/>
            </a:avLst>
          </a:prstGeom>
          <a:solidFill>
            <a:srgbClr val="E8F5F3"/>
          </a:solidFill>
          <a:ln/>
        </p:spPr>
      </p:sp>
      <p:sp>
        <p:nvSpPr>
          <p:cNvPr id="28" name="Shape 20"/>
          <p:cNvSpPr/>
          <p:nvPr/>
        </p:nvSpPr>
        <p:spPr>
          <a:xfrm>
            <a:off x="804672" y="5408676"/>
            <a:ext cx="566928" cy="566928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2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8373" y="5482377"/>
            <a:ext cx="419527" cy="419527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1508760" y="4983480"/>
            <a:ext cx="2359152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Contacto por WhatsApp</a:t>
            </a:r>
            <a:endParaRPr lang="en-US" sz="1400" dirty="0"/>
          </a:p>
        </p:txBody>
      </p:sp>
      <p:sp>
        <p:nvSpPr>
          <p:cNvPr id="31" name="Shape 22"/>
          <p:cNvSpPr/>
          <p:nvPr/>
        </p:nvSpPr>
        <p:spPr>
          <a:xfrm>
            <a:off x="4325112" y="4983480"/>
            <a:ext cx="3502152" cy="1417320"/>
          </a:xfrm>
          <a:prstGeom prst="roundRect">
            <a:avLst>
              <a:gd name="adj" fmla="val 6452"/>
            </a:avLst>
          </a:prstGeom>
          <a:solidFill>
            <a:srgbClr val="E8F5F3"/>
          </a:solidFill>
          <a:ln/>
        </p:spPr>
      </p:sp>
      <p:sp>
        <p:nvSpPr>
          <p:cNvPr id="32" name="Shape 23"/>
          <p:cNvSpPr/>
          <p:nvPr/>
        </p:nvSpPr>
        <p:spPr>
          <a:xfrm>
            <a:off x="4581144" y="5408676"/>
            <a:ext cx="566928" cy="566928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33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54845" y="5482377"/>
            <a:ext cx="419527" cy="419527"/>
          </a:xfrm>
          <a:prstGeom prst="rect">
            <a:avLst/>
          </a:prstGeom>
        </p:spPr>
      </p:pic>
      <p:sp>
        <p:nvSpPr>
          <p:cNvPr id="34" name="Text 24"/>
          <p:cNvSpPr/>
          <p:nvPr/>
        </p:nvSpPr>
        <p:spPr>
          <a:xfrm>
            <a:off x="5285232" y="4983480"/>
            <a:ext cx="2359152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Instalable en el celular</a:t>
            </a:r>
            <a:endParaRPr lang="en-US" sz="1400" dirty="0"/>
          </a:p>
        </p:txBody>
      </p:sp>
      <p:sp>
        <p:nvSpPr>
          <p:cNvPr id="35" name="Shape 25"/>
          <p:cNvSpPr/>
          <p:nvPr/>
        </p:nvSpPr>
        <p:spPr>
          <a:xfrm>
            <a:off x="8101584" y="4983480"/>
            <a:ext cx="3502152" cy="1417320"/>
          </a:xfrm>
          <a:prstGeom prst="roundRect">
            <a:avLst>
              <a:gd name="adj" fmla="val 6452"/>
            </a:avLst>
          </a:prstGeom>
          <a:solidFill>
            <a:srgbClr val="E8F5F3"/>
          </a:solidFill>
          <a:ln/>
        </p:spPr>
      </p:sp>
      <p:sp>
        <p:nvSpPr>
          <p:cNvPr id="36" name="Shape 26"/>
          <p:cNvSpPr/>
          <p:nvPr/>
        </p:nvSpPr>
        <p:spPr>
          <a:xfrm>
            <a:off x="8357616" y="5408676"/>
            <a:ext cx="566928" cy="566928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37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431317" y="5482377"/>
            <a:ext cx="419527" cy="419527"/>
          </a:xfrm>
          <a:prstGeom prst="rect">
            <a:avLst/>
          </a:prstGeom>
        </p:spPr>
      </p:pic>
      <p:sp>
        <p:nvSpPr>
          <p:cNvPr id="38" name="Text 27"/>
          <p:cNvSpPr/>
          <p:nvPr/>
        </p:nvSpPr>
        <p:spPr>
          <a:xfrm>
            <a:off x="9061704" y="4983480"/>
            <a:ext cx="2359152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Resumen del día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13A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¿Qué significa esto en la práctica?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3728" y="2377440"/>
            <a:ext cx="3383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563728" y="3611880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E8F5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almacenes por vendedor, por día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404208" y="2377440"/>
            <a:ext cx="3383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24/7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4404208" y="3611880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E8F5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disponibilidad para hacer pedidos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44688" y="2377440"/>
            <a:ext cx="3383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6000" dirty="0"/>
          </a:p>
        </p:txBody>
      </p:sp>
      <p:sp>
        <p:nvSpPr>
          <p:cNvPr id="8" name="Text 6"/>
          <p:cNvSpPr/>
          <p:nvPr/>
        </p:nvSpPr>
        <p:spPr>
          <a:xfrm>
            <a:off x="8244688" y="3611880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E8F5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visibilidad de stock en tiempo real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13A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011680" y="4434840"/>
            <a:ext cx="5486400" cy="5486400"/>
          </a:xfrm>
          <a:prstGeom prst="ellipse">
            <a:avLst/>
          </a:prstGeom>
          <a:solidFill>
            <a:srgbClr val="00A896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501488" y="1417320"/>
            <a:ext cx="1188720" cy="118872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56021" y="1571854"/>
            <a:ext cx="879653" cy="879653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0" y="2880360"/>
            <a:ext cx="121916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Empecemos</a:t>
            </a:r>
            <a:endParaRPr lang="en-US" sz="4400" dirty="0"/>
          </a:p>
        </p:txBody>
      </p:sp>
      <p:sp>
        <p:nvSpPr>
          <p:cNvPr id="6" name="Text 3"/>
          <p:cNvSpPr/>
          <p:nvPr/>
        </p:nvSpPr>
        <p:spPr>
          <a:xfrm>
            <a:off x="1981048" y="3794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E8F5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Sumáte a TuStockApp y transformá la forma en que tus clientes te compran.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3261208" y="4480560"/>
            <a:ext cx="5669280" cy="1051560"/>
          </a:xfrm>
          <a:prstGeom prst="roundRect">
            <a:avLst>
              <a:gd name="adj" fmla="val 13043"/>
            </a:avLst>
          </a:prstGeom>
          <a:solidFill>
            <a:srgbClr val="00A896">
              <a:alpha val="85000"/>
            </a:srgbClr>
          </a:solidFill>
          <a:ln/>
        </p:spPr>
      </p:sp>
      <p:sp>
        <p:nvSpPr>
          <p:cNvPr id="8" name="Shape 5"/>
          <p:cNvSpPr/>
          <p:nvPr/>
        </p:nvSpPr>
        <p:spPr>
          <a:xfrm>
            <a:off x="3581248" y="4709160"/>
            <a:ext cx="594360" cy="5943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8514" y="4786427"/>
            <a:ext cx="439826" cy="43982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404208" y="461772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 días de prueba gratis, sin compromiso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4404208" y="4965192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E8F5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Probalo con tu propio catálogo antes de decidir nada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3261208" y="5669280"/>
            <a:ext cx="5669280" cy="914400"/>
          </a:xfrm>
          <a:prstGeom prst="roundRect">
            <a:avLst>
              <a:gd name="adj" fmla="val 15000"/>
            </a:avLst>
          </a:prstGeom>
          <a:solidFill>
            <a:srgbClr val="00A896">
              <a:alpha val="85000"/>
            </a:srgbClr>
          </a:solidFill>
          <a:ln/>
        </p:spPr>
      </p:sp>
      <p:sp>
        <p:nvSpPr>
          <p:cNvPr id="13" name="Shape 9"/>
          <p:cNvSpPr/>
          <p:nvPr/>
        </p:nvSpPr>
        <p:spPr>
          <a:xfrm>
            <a:off x="3581248" y="5852160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2571" y="5923483"/>
            <a:ext cx="405994" cy="405994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4404208" y="5779008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 acompañamos personalmente</a:t>
            </a:r>
            <a:endParaRPr lang="en-US" sz="1450" dirty="0"/>
          </a:p>
        </p:txBody>
      </p:sp>
      <p:sp>
        <p:nvSpPr>
          <p:cNvPr id="16" name="Text 11"/>
          <p:cNvSpPr/>
          <p:nvPr/>
        </p:nvSpPr>
        <p:spPr>
          <a:xfrm>
            <a:off x="4404208" y="6089904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E8F5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Visitamos a tus clientes uno por uno para enseñarles a usar la app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8F5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 un paso más allá del vendedor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828800"/>
            <a:ext cx="65836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sistema detecta cuando un cliente pidió un producto la semana pasada y todavía no lo volvió a pedir esta semana.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365760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4C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un clic le mandás el recordatorio, antes de que se acuerde de llamarte a vos.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8778240" y="1920240"/>
            <a:ext cx="2377440" cy="2377440"/>
          </a:xfrm>
          <a:prstGeom prst="ellipse">
            <a:avLst/>
          </a:prstGeom>
          <a:solidFill>
            <a:srgbClr val="013A40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34856" y="2276856"/>
            <a:ext cx="1664208" cy="16642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412480" y="443484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semana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8412480" y="50292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C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repetir activa el aviso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E8F5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recuerda todos los días, sin que vos lo llames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828800"/>
            <a:ext cx="65836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un cliente activó las notificaciones y todavía no hizo su pedido en el día, TuStockApp le manda un aviso al celular para que no se olvide.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365760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4C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automático, todos los días — como si vos mismo lo estuvieras llamando.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8778240" y="1920240"/>
            <a:ext cx="2377440" cy="2377440"/>
          </a:xfrm>
          <a:prstGeom prst="ellipse">
            <a:avLst/>
          </a:prstGeom>
          <a:solidFill>
            <a:srgbClr val="013A40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34856" y="2276856"/>
            <a:ext cx="1664208" cy="16642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412480" y="443484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9:00 am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8412480" y="50292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C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todos los días, hora Uruguay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E8F5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meses de prueba, con nosotros al lado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828800"/>
            <a:ext cx="65836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Durante tus 90 días de prueba, visitamos personalmente a cada uno de tus clientes para enseñarles a pedir desde la app.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365760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4C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Vos seguís vendiendo mientras tanto — la capacitación corre por nuestra cuenta.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8778240" y="1920240"/>
            <a:ext cx="2377440" cy="2377440"/>
          </a:xfrm>
          <a:prstGeom prst="ellipse">
            <a:avLst/>
          </a:prstGeom>
          <a:solidFill>
            <a:srgbClr val="013A40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34856" y="2276856"/>
            <a:ext cx="1664208" cy="16642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412480" y="443484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90 días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8412480" y="50292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C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acompañamiento incluido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E8F5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Promociones que avisan solas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828800"/>
            <a:ext cx="65836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regalo que te da la marca, un 2x1 puntual: activás la promoción en el producto y se muestra destacada en tu catálogo.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365760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4C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Tus clientes reciben el aviso al celular en el momento, sin que vos les tengas que escribir uno por uno.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8778240" y="1920240"/>
            <a:ext cx="2377440" cy="2377440"/>
          </a:xfrm>
          <a:prstGeom prst="ellipse">
            <a:avLst/>
          </a:prstGeom>
          <a:solidFill>
            <a:srgbClr val="013A40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34856" y="2276856"/>
            <a:ext cx="1664208" cy="16642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412480" y="443484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 instante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8412480" y="50292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C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entera cada cliente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E8F5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Más que pedidos: un vendedor en el bolsillo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828800"/>
            <a:ext cx="65836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cada cliente le recomienda solo lo que suele pedir, y le avisa apenas vuelve el producto que estaba esperando.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365760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4C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el vendedor que conoce a cada cliente, pero corriendo solo en su celular, las 24 horas.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8778240" y="1920240"/>
            <a:ext cx="2377440" cy="2377440"/>
          </a:xfrm>
          <a:prstGeom prst="ellipse">
            <a:avLst/>
          </a:prstGeom>
          <a:solidFill>
            <a:srgbClr val="013A40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34856" y="2276856"/>
            <a:ext cx="1664208" cy="16642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412480" y="443484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24/7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8412480" y="50292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C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trabajando por vos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E8F5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"Pedime esto todos los martes"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828800"/>
            <a:ext cx="65836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cliente que ya sabe exactamente qué necesita cada semana guarda su carrito como pedido recurrente, y listo: se genera solo, ese mismo día, sin que tenga que volver a entrar a la app.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365760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4C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un producto se queda sin stock justo ese día, se saltea solo ese ítem — nunca se cancela el pedido entero.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8778240" y="1920240"/>
            <a:ext cx="2377440" cy="2377440"/>
          </a:xfrm>
          <a:prstGeom prst="ellipse">
            <a:avLst/>
          </a:prstGeom>
          <a:solidFill>
            <a:srgbClr val="013A40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34856" y="2276856"/>
            <a:ext cx="1664208" cy="16642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412480" y="443484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 clics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8412480" y="50292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C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pedir esta semana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2026-08-03T13:34:55Z</dcterms:created>
  <dcterms:modified xsi:type="dcterms:W3CDTF">2026-08-03T13:34:55Z</dcterms:modified>
</cp:coreProperties>
</file>